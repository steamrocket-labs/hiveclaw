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d3f77c11164597" /><Relationship Type="http://schemas.openxmlformats.org/officeDocument/2006/relationships/extended-properties" Target="/docProps/app.xml" Id="Rc4607c40e5084979" /><Relationship Type="http://schemas.openxmlformats.org/officeDocument/2006/relationships/officeDocument" Target="/ppt/presentation.xml" Id="R990413d654ad4d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a39a4b8ef4a82"/>
  </p:sldMasterIdLst>
  <p:notesMasterIdLst>
    <p:notesMasterId xmlns:r="http://schemas.openxmlformats.org/officeDocument/2006/relationships" r:id="R051958a4eb9b4806"/>
  </p:notesMasterIdLst>
  <p:sldIdLst>
    <p:sldId xmlns:r="http://schemas.openxmlformats.org/officeDocument/2006/relationships" id="256" r:id="R606d8e80fe8e488e"/>
    <p:sldId xmlns:r="http://schemas.openxmlformats.org/officeDocument/2006/relationships" id="257" r:id="Re68d03204df24b93"/>
    <p:sldId xmlns:r="http://schemas.openxmlformats.org/officeDocument/2006/relationships" id="258" r:id="R54aa0ec6ea104e17"/>
    <p:sldId xmlns:r="http://schemas.openxmlformats.org/officeDocument/2006/relationships" id="259" r:id="R0ee707bf8328423b"/>
    <p:sldId xmlns:r="http://schemas.openxmlformats.org/officeDocument/2006/relationships" id="260" r:id="R6cb54fb9384d47d5"/>
    <p:sldId xmlns:r="http://schemas.openxmlformats.org/officeDocument/2006/relationships" id="261" r:id="Rf661f8515a9b4de7"/>
    <p:sldId xmlns:r="http://schemas.openxmlformats.org/officeDocument/2006/relationships" id="262" r:id="R4f3f10e6b7ab4aee"/>
    <p:sldId xmlns:r="http://schemas.openxmlformats.org/officeDocument/2006/relationships" id="263" r:id="Rf8ba96304d60425a"/>
    <p:sldId xmlns:r="http://schemas.openxmlformats.org/officeDocument/2006/relationships" id="264" r:id="R985f3fd0e1d74009"/>
    <p:sldId xmlns:r="http://schemas.openxmlformats.org/officeDocument/2006/relationships" id="265" r:id="R2e7f167eb66141ce"/>
    <p:sldId xmlns:r="http://schemas.openxmlformats.org/officeDocument/2006/relationships" id="266" r:id="R1f3b23c25fb1466c"/>
    <p:sldId xmlns:r="http://schemas.openxmlformats.org/officeDocument/2006/relationships" id="267" r:id="R8041038fa04144c3"/>
    <p:sldId xmlns:r="http://schemas.openxmlformats.org/officeDocument/2006/relationships" id="268" r:id="R64b4fe5c4c5c41c7"/>
    <p:sldId xmlns:r="http://schemas.openxmlformats.org/officeDocument/2006/relationships" id="269" r:id="Rbf055b4d591149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e585250854583" /><Relationship Type="http://schemas.openxmlformats.org/officeDocument/2006/relationships/slideMaster" Target="/ppt/slideMasters/slideMaster1.xml" Id="R0b1a39a4b8ef4a82" /><Relationship Type="http://schemas.openxmlformats.org/officeDocument/2006/relationships/notesMaster" Target="/ppt/notesMasters/notesMaster1.xml" Id="R051958a4eb9b4806" /><Relationship Type="http://schemas.openxmlformats.org/officeDocument/2006/relationships/presProps" Target="/ppt/presProps.xml" Id="R72964b2143234b85" /><Relationship Type="http://schemas.openxmlformats.org/officeDocument/2006/relationships/viewProps" Target="/ppt/viewProps.xml" Id="Rf2a59882da4c445a" /><Relationship Type="http://schemas.openxmlformats.org/officeDocument/2006/relationships/tableStyles" Target="/ppt/tableStyles.xml" Id="R25c89340c5294395" /><Relationship Type="http://schemas.openxmlformats.org/officeDocument/2006/relationships/slide" Target="/ppt/slides/slide1.xml" Id="R606d8e80fe8e488e" /><Relationship Type="http://schemas.openxmlformats.org/officeDocument/2006/relationships/slide" Target="/ppt/slides/slide2.xml" Id="Re68d03204df24b93" /><Relationship Type="http://schemas.openxmlformats.org/officeDocument/2006/relationships/slide" Target="/ppt/slides/slide3.xml" Id="R54aa0ec6ea104e17" /><Relationship Type="http://schemas.openxmlformats.org/officeDocument/2006/relationships/slide" Target="/ppt/slides/slide4.xml" Id="R0ee707bf8328423b" /><Relationship Type="http://schemas.openxmlformats.org/officeDocument/2006/relationships/slide" Target="/ppt/slides/slide5.xml" Id="R6cb54fb9384d47d5" /><Relationship Type="http://schemas.openxmlformats.org/officeDocument/2006/relationships/slide" Target="/ppt/slides/slide6.xml" Id="Rf661f8515a9b4de7" /><Relationship Type="http://schemas.openxmlformats.org/officeDocument/2006/relationships/slide" Target="/ppt/slides/slide7.xml" Id="R4f3f10e6b7ab4aee" /><Relationship Type="http://schemas.openxmlformats.org/officeDocument/2006/relationships/slide" Target="/ppt/slides/slide8.xml" Id="Rf8ba96304d60425a" /><Relationship Type="http://schemas.openxmlformats.org/officeDocument/2006/relationships/slide" Target="/ppt/slides/slide9.xml" Id="R985f3fd0e1d74009" /><Relationship Type="http://schemas.openxmlformats.org/officeDocument/2006/relationships/slide" Target="/ppt/slides/slide10.xml" Id="R2e7f167eb66141ce" /><Relationship Type="http://schemas.openxmlformats.org/officeDocument/2006/relationships/slide" Target="/ppt/slides/slide11.xml" Id="R1f3b23c25fb1466c" /><Relationship Type="http://schemas.openxmlformats.org/officeDocument/2006/relationships/slide" Target="/ppt/slides/slide12.xml" Id="R8041038fa04144c3" /><Relationship Type="http://schemas.openxmlformats.org/officeDocument/2006/relationships/slide" Target="/ppt/slides/slide13.xml" Id="R64b4fe5c4c5c41c7" /><Relationship Type="http://schemas.openxmlformats.org/officeDocument/2006/relationships/slide" Target="/ppt/slides/slide14.xml" Id="Rbf055b4d5911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751540229b4b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7ea3def0243dd" /><Relationship Type="http://schemas.openxmlformats.org/officeDocument/2006/relationships/notesMaster" Target="/ppt/notesMasters/notesMaster1.xml" Id="R1dcf92cba79b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c83d0bb2e94eba" /><Relationship Type="http://schemas.openxmlformats.org/officeDocument/2006/relationships/notesMaster" Target="/ppt/notesMasters/notesMaster1.xml" Id="Rebe6055f1b5844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949e950b8545c8" /><Relationship Type="http://schemas.openxmlformats.org/officeDocument/2006/relationships/notesMaster" Target="/ppt/notesMasters/notesMaster1.xml" Id="Rae095c2c04184f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5c3ee3d05543f3" /><Relationship Type="http://schemas.openxmlformats.org/officeDocument/2006/relationships/notesMaster" Target="/ppt/notesMasters/notesMaster1.xml" Id="R64b15e9bc37749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28f8be1a8241bf" /><Relationship Type="http://schemas.openxmlformats.org/officeDocument/2006/relationships/notesMaster" Target="/ppt/notesMasters/notesMaster1.xml" Id="Rfad3225b41924a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ce7b0cee5405b" /><Relationship Type="http://schemas.openxmlformats.org/officeDocument/2006/relationships/notesMaster" Target="/ppt/notesMasters/notesMaster1.xml" Id="R60a611bafcfc41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fc1b377f774eb4" /><Relationship Type="http://schemas.openxmlformats.org/officeDocument/2006/relationships/notesMaster" Target="/ppt/notesMasters/notesMaster1.xml" Id="Raf357bb0542249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3d21d931444171" /><Relationship Type="http://schemas.openxmlformats.org/officeDocument/2006/relationships/notesMaster" Target="/ppt/notesMasters/notesMaster1.xml" Id="R59971bf9e358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cf387273ff46d8" /><Relationship Type="http://schemas.openxmlformats.org/officeDocument/2006/relationships/notesMaster" Target="/ppt/notesMasters/notesMaster1.xml" Id="R06d48a950fab45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c46afc8ad2470a" /><Relationship Type="http://schemas.openxmlformats.org/officeDocument/2006/relationships/notesMaster" Target="/ppt/notesMasters/notesMaster1.xml" Id="R81972bd9332b4f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fdd08f6c874873" /><Relationship Type="http://schemas.openxmlformats.org/officeDocument/2006/relationships/notesMaster" Target="/ppt/notesMasters/notesMaster1.xml" Id="R1fde0e8cdccb4c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69c0642d96470f" /><Relationship Type="http://schemas.openxmlformats.org/officeDocument/2006/relationships/notesMaster" Target="/ppt/notesMasters/notesMaster1.xml" Id="R17ba926ba03e41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0e868f7f5f4d73" /><Relationship Type="http://schemas.openxmlformats.org/officeDocument/2006/relationships/notesMaster" Target="/ppt/notesMasters/notesMaster1.xml" Id="R0dea66801fa64c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1228fc4e4b422f" /><Relationship Type="http://schemas.openxmlformats.org/officeDocument/2006/relationships/notesMaster" Target="/ppt/notesMasters/notesMaster1.xml" Id="Raefb60f1169c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55b09f8e1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21686dc524b6c" /><Relationship Type="http://schemas.openxmlformats.org/officeDocument/2006/relationships/slideLayout" Target="/ppt/slideLayouts/slideLayout1.xml" Id="R77070e8d784544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070e8d7845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7407430624283" /><Relationship Type="http://schemas.openxmlformats.org/officeDocument/2006/relationships/notesSlide" Target="/ppt/notesSlides/notesSlide1.xml" Id="Re1dbe64abec147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74579c4a64b7a" /><Relationship Type="http://schemas.openxmlformats.org/officeDocument/2006/relationships/notesSlide" Target="/ppt/notesSlides/notesSlide2.xml" Id="R485e1629b6124b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61280e9fd4bd6" /><Relationship Type="http://schemas.openxmlformats.org/officeDocument/2006/relationships/notesSlide" Target="/ppt/notesSlides/notesSlide3.xml" Id="R0979ddb19c2240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af81437104d70" /><Relationship Type="http://schemas.openxmlformats.org/officeDocument/2006/relationships/notesSlide" Target="/ppt/notesSlides/notesSlide4.xml" Id="R4bc6803183e74c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373a549b740e6" /><Relationship Type="http://schemas.openxmlformats.org/officeDocument/2006/relationships/notesSlide" Target="/ppt/notesSlides/notesSlide5.xml" Id="R62324848499b42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13473e234405d" /><Relationship Type="http://schemas.openxmlformats.org/officeDocument/2006/relationships/notesSlide" Target="/ppt/notesSlides/notesSlide6.xml" Id="Rac6a745afcd448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2379711ad4d6b" /><Relationship Type="http://schemas.openxmlformats.org/officeDocument/2006/relationships/notesSlide" Target="/ppt/notesSlides/notesSlide7.xml" Id="Rf925ad1f95234d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055ea971b4823" /><Relationship Type="http://schemas.openxmlformats.org/officeDocument/2006/relationships/notesSlide" Target="/ppt/notesSlides/notesSlide8.xml" Id="Rfe451225532845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b3c606fc1448e" /><Relationship Type="http://schemas.openxmlformats.org/officeDocument/2006/relationships/notesSlide" Target="/ppt/notesSlides/notesSlide9.xml" Id="R0ee47ac38cc147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ceca0701847ee" /><Relationship Type="http://schemas.openxmlformats.org/officeDocument/2006/relationships/notesSlide" Target="/ppt/notesSlides/notesSlide10.xml" Id="Rab4e4ad9c30f49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add226b924f3f" /><Relationship Type="http://schemas.openxmlformats.org/officeDocument/2006/relationships/notesSlide" Target="/ppt/notesSlides/notesSlide11.xml" Id="R8803a6e2119445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0fdb3dbdd4ba7" /><Relationship Type="http://schemas.openxmlformats.org/officeDocument/2006/relationships/notesSlide" Target="/ppt/notesSlides/notesSlide12.xml" Id="R53d19e43f0a247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fdbffadf74887" /><Relationship Type="http://schemas.openxmlformats.org/officeDocument/2006/relationships/notesSlide" Target="/ppt/notesSlides/notesSlide13.xml" Id="Rf79ff56b068d41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570b4089348cf" /><Relationship Type="http://schemas.openxmlformats.org/officeDocument/2006/relationships/notesSlide" Target="/ppt/notesSlides/notesSlide14.xml" Id="R7c57213399e14e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352AB-EECF-4D03-8F22-759F457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B6E62-24D9-4690-B62D-601F90AA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F9588-97B8-44CF-82FD-13712C85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47C25-1201-4F1D-AA36-3559944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A6F5A-9375-4924-9C89-2ADD263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E2D07-64C0-40CE-8BE2-4C0523AB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TECHNICAL ROADSHOW / 2026-06-06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11955-F2FC-400C-BC55-07BFF829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57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Hive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6FB75-3EE1-4E5C-9E56-7F849A7E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19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自进化数字员工基础设施</a:t>
            </a:r>
          </a:p>
          <a:p xmlns:a="http://schemas.openxmlformats.org/drawingml/2006/main">
            <a:pPr algn="l">
              <a:defRPr sz="31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+ 企业级控制中台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3D5D7-018B-42CB-AF95-2DC6E7F7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不是聊天机器人包装层，而是让 agent 具备身份、记忆、执行、治理和可审计演化的 runtime platform。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CA1C0-F00E-4F0D-927C-72388892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76300"/>
            <a:ext cx="29527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6B1D2-7C2C-4D04-8AAD-1E50EF8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00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CURRENT CHECKOUT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3C0DC-40F1-45F9-800C-05EB2F79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19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438DC-A4D0-4CF6-8651-E31D4C8B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1.7.0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3C64E-192F-478F-BE6E-F0505C84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tool decorators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2EF67-19BD-469D-A0EB-8E52AFEE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F3599-CABB-4EAC-80D9-E0C641FA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backend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52881-F51E-4F42-A95F-8EE82DA3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718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158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D0BB7-1D4D-461F-8A9F-EFF8A19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22362-44DE-485D-A35E-BFB11D56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RLS +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DC351-0FD1-43F6-9DF8-D33A320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876300"/>
            <a:ext cx="95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B04F7-7864-461D-A82D-3B01642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F6A66-9E11-4FF2-8498-B63B4DD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Hive technical roadshow / 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A24BE-E736-4836-98D4-52B5505E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865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source: current repo scan + README.md</a:t>
            </a:r>
          </a:p>
        </p:txBody>
      </p:sp>
    </p:spTree>
    <p:extLst>
      <p:ext uri="{BB962C8B-B14F-4D97-AF65-F5344CB8AC3E}">
        <p14:creationId xmlns:p14="http://schemas.microsoft.com/office/powerpoint/2010/main" val="19772445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E4CD6-6B7D-4FE5-9005-F4EADBD8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2619C-2165-4418-9CFB-06D9BD01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B2E5E-8C14-4BAC-85DE-CD7606FE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6C540-5A7D-41E1-89B2-E1E925DA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0C130-B82A-4305-89AF-5565F0D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4FD94-1526-44F9-84C3-F3FE4722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WHY THIS NEEDS A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046F6-2BEB-40D4-ADA1-AECF8C26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9650"/>
            <a:ext cx="781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企业 agent 的瓶颈不是模型本身，</a:t>
            </a:r>
          </a:p>
          <a:p xmlns:a="http://schemas.openxmlformats.org/drawingml/2006/main">
            <a:pPr algn="l">
              <a:defRPr sz="24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而是缺少可持续运行的生命体征。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DAC79-3BAB-46AB-B713-DDA288F4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模型越强，越需要平台把身份、记忆、授权和副作用边界补齐。否则 agent 只能停留在一次性聊天或脚本自动化。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D8CAB-BAF8-49B2-8F1F-4559A42A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971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2C7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A5079-6BE8-4C95-87AF-E8703E1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E3E5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E3E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EBE53-A0D9-41F3-A57D-76653C6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52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状态断裂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14EAC-B7A8-400A-8C38-5F1FC9F2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16B2A-FEEE-4712-927A-45C6906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上下文存在窗口里，身份和偏好不成为可演化资产。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55BE7-1234-4680-84CA-BB7774EC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1485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需要 soul.md、T0/T2/T3、动态记忆激活。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4F2F1-B281-4399-9D9C-4D852E47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2971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2C7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7BA99-471D-45A9-8C21-D330602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2B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E72B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4F016-2753-4F07-9842-89C66A7B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52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执行脆弱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70F2A-0968-428A-91EE-352715F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63C46-AA98-4C98-9E03-60FD6CF5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长任务和后台任务依赖页面/会话，失败后难以恢复。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563E72-819A-4AAD-889D-1A0DCC4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需要 RuntimeTask、journal、resume、durable broker。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19D8A-AB5D-4B7F-BFE8-3D0B641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81350"/>
            <a:ext cx="2971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D2C7B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3933B-8626-4CEA-892D-D24FD5AF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410DD-8191-44AE-B37A-BC89E513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治理缺席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EE603-0F0B-4F48-B234-5F1C518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249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FA8BC-1D3D-472A-935A-04AC694D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457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工具、数据、公司边界、外部动作混在一个 prompt 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233EA-7C69-443C-90BB-B9A3311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需要 RLS、capability policy、preflight、checkpoint。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AE5D4-70CA-4798-AC3C-7A7794E7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6FB9E-EF9A-4167-9B3A-656D3426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DC489-BA6D-4386-9CC4-164D910E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README.md lines 16-29</a:t>
            </a:r>
          </a:p>
        </p:txBody>
      </p:sp>
    </p:spTree>
    <p:extLst>
      <p:ext uri="{BB962C8B-B14F-4D97-AF65-F5344CB8AC3E}">
        <p14:creationId xmlns:p14="http://schemas.microsoft.com/office/powerpoint/2010/main" val="1019153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4F442-78BB-4954-A614-CF025606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4D9A2-9BB5-4513-A2FE-2B789EE9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B2505-22A9-477E-8A0D-22249E3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214BA-5548-49FD-9A1B-BF28DBD5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9A7B2-59CA-4A21-B14B-3D64333C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5DBD0-2F2B-47A7-9D2D-D304BD80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AI-NATIVE DESIGN LAW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7F515-36D4-4693-B5FE-4A92853B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23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Hive 的设计法则：释放模型能力，</a:t>
            </a:r>
          </a:p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把约束放在行动边界。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58667-555F-46BD-B6F0-D5E21728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智能步骤交给 LLM；harness 负责权限、预算、审计和副作用。这样既保持模型可替换，又不牺牲企业治理。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26FDB-4797-445B-9E7C-4CB3B8C1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F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3AE87-582F-4BC3-BBAA-B1B900DB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908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F4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95F43"/>
                </a:solidFill>
                <a:latin typeface="Aptos Display"/>
                <a:ea typeface="Aptos Display"/>
                <a:cs typeface="Aptos Display"/>
              </a:rPr>
              <a:t>L1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9D0EC-8696-4595-84E9-A6D524E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7182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Unleash the model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621D4-8AE9-4B02-9034-EC36F4F4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总结、规划、提取、综合、判断都给模型完整输入和足够输出预算。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187B0-896C-4830-AEE6-17ECAEA6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CE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133D69-73EE-46E0-96E5-E70971FC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002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8A2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88A2E"/>
                </a:solidFill>
                <a:latin typeface="Aptos Display"/>
                <a:ea typeface="Aptos Display"/>
                <a:cs typeface="Aptos Display"/>
              </a:rPr>
              <a:t>L2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C69AB-962E-4CCF-9ED5-247F0195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9097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Harness constrains, never replaces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61711-93D2-4C26-BD3F-5A1A4814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005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治理层限制 agent 能做什么，而不是削弱它怎么思考。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BF6B1-905A-42F0-888B-CCDCD76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8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FE7AA-6049-44E8-8A97-2926CD1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L3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DC9F5-61FB-4296-B577-CB0A6BC3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0125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Neutral enterprise control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A3CD5-1D0A-45A7-B56E-3863AF02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模型平等、组织权限、预算、审计和协作治理在平台层统一。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DE1B2-9733-4A04-AACB-2132FB3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43250"/>
            <a:ext cx="19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65B34-9250-4295-B550-648517EA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89F8E-EE3A-4911-B862-CB092D23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750C7-F583-4D8A-9A86-1D0D6AC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AGENTS.md / AI-Native Design Law</a:t>
            </a:r>
          </a:p>
        </p:txBody>
      </p:sp>
    </p:spTree>
    <p:extLst>
      <p:ext uri="{BB962C8B-B14F-4D97-AF65-F5344CB8AC3E}">
        <p14:creationId xmlns:p14="http://schemas.microsoft.com/office/powerpoint/2010/main" val="536443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75789-1FCD-4706-92A7-682058E1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D3C25-2499-4952-9B94-A93F0DF2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874C5-1668-4B82-8F6F-B514C9F1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8E37E-5593-452D-B286-53D27B88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00CFA-BC87-43F1-952B-28C847C5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DACFE-89DF-4EF1-8B08-B2D555AB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SYSTEM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C6AE7-5664-4B14-8B20-9382296A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一套统一 runtime 承载聊天、渠道、触发、办公、workflow 和 agent 协作。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CAF3-84F2-403F-ABC4-2B4228AB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52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D4DAF-FF05-42CF-A300-F860AC52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3B286-FFF1-4129-BCBC-210CF05E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Entry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7053D-62CC-44BC-A2D9-24F7A59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71A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39424-19E3-46B4-9DD1-25A88DC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Web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6F526-5E86-4A79-A513-CD8A8A75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71A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0E7D6-248A-423A-AF4F-C7B01E3E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0875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Feishu / Slack / Teams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324B0-06C8-47E9-831F-7EB44526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71A9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AA873-416A-443E-8C90-2971C86F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Schedule / webhook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AC307-FAC7-4A2D-9E93-A684553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71A9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7367D-879B-49B7-A549-337BAA4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Office workbench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A66C8-D97E-483A-9204-E5B67E53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242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3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6C67E-8433-47C3-849B-77CEF65C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09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CC4D6-856F-4925-A6BA-FBF158DB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E94E1-C9B2-4DE0-B0E1-26DD8615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955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57C4A-8A31-4064-B30A-0401D75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FastAPI 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4B1B5-8245-4DC8-996B-8B55E85F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C88A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ABECF-616F-4128-8570-B190457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61 API routers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0EAA6-0563-442A-B3BD-146D8575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C88A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4E085-16FF-4C2D-889A-7761819A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9087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RuntimeTask APIs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08996-723E-4D8F-B176-CD2DB6F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C88A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1DC2F-9335-41CA-ACFE-A39DB85E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0045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Channel webhooks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07ACE4-1C4C-40CE-A564-78721B29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C88A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153350-5BB8-4323-84B7-DA8DCAF3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00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Admin surfaces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1CD6AB-C47B-4EA2-9F5C-8352F55D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242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3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0FA286-87DE-4191-AA25-A3317A2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9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C34F05-BF74-41CB-B585-9E33435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219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0BE7D5-82A4-4BAF-853E-1558BAC7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DE6314-0E38-4C93-83E1-E135D5B1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Agent runtime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EEAB1-0A06-465D-B2D6-C55E8D75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761484-8BF7-4729-B671-7C168519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invoker.py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370449-1468-4C91-94CD-8184A2DB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3DA867-4C92-49B4-91CA-8EF0AB8D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AgentKernel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89ED57-31AB-4A26-9FAF-6D1D7BD7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1C8BA4-3BC7-4579-AF8A-EE854AA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LoopGuard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420A57-07E2-4C02-9D21-38026531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78CA19-EBEE-4786-9116-93D3C91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0025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Tool budgets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24D9B6-6C23-495B-B477-95FC5649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242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3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8C1686-3498-4E88-BC46-2B449016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45771D-DFB6-49F7-82BB-9F8BDF0D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962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62F82A-9D88-4DA2-A0AC-0280E402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1962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B0C857-64A5-44B1-AF79-61DC9A06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1676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Governed tools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C8EA52-1424-4EB0-992B-36BF671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D95F4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BFB7BA-AE84-4458-9D2F-7FC67F5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ToolRuntimeService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DA875D-9E6D-47A9-A4BA-4A1FBE35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D95F4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6F7382-A91D-40FB-8ECD-D828AA9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ActionPreflight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49E8FA-04C7-4AC0-8557-7AA4C9F9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D95F4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7BBB4D-473F-413F-8874-7F683E59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CapabilityGate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8ABE6D-C15A-4AA2-87D3-8605CD68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D95F4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E14B08-D703-41B6-96EE-352EB93C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00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107 @tool hooks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CD4F86-D493-474B-9843-962B5EB3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24250"/>
            <a:ext cx="-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83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9B3C86-57B8-4BC0-B15A-89D0061E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09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08397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19C1A0-7DB2-4197-BFA9-0780965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1181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8BEF13-48BB-4C93-A4BF-3461326B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95500"/>
            <a:ext cx="1181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CD7548-7F84-4BC8-B924-62F42D7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2410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Stores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B7217C-727D-4A4F-BA31-D9D08344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77A68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60E526-10C0-4CE9-9AFA-05E2146A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813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Postgres RLS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69CAF9-157F-4BB1-9ACA-7A0456F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77A68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148581-515F-46CC-8805-181D92C5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9087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Redis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7879F9-0440-496A-99B0-DA64E4C6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77A68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86285E-DD70-4213-98B6-5B5CFC6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6004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Agent FS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BE581A-F39B-4BB4-82FA-C5BBD8A0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86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77A68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A609A9-7E27-47FF-B306-D90333A7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1002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Audit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AE52ED-7006-4783-A82E-C572F02C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853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538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C229A2-3759-4D25-AA52-A0C7AFEA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102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Memory Control Plane + enterprise control plane wrap the whole path: owner/company context, RLS, audit, budgets, approvals.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6C53B92-E270-45C0-8DE8-D66156AF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43256B-79C6-44AF-A591-D144EC1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Hive technical roadshow / 04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DABA62-BD30-4895-A6EB-FA1081DE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865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source: README.md architecture + live repo counts</a:t>
            </a:r>
          </a:p>
        </p:txBody>
      </p:sp>
    </p:spTree>
    <p:extLst>
      <p:ext uri="{BB962C8B-B14F-4D97-AF65-F5344CB8AC3E}">
        <p14:creationId xmlns:p14="http://schemas.microsoft.com/office/powerpoint/2010/main" val="21256390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775F0-5443-49E2-A396-CC3D644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D4BFB-6CE0-4ED4-BF88-9E3CC08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D932-C7C0-4CFA-ACB4-B218263C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A644E-7C56-49C7-9492-BD2B3266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ABF90-F50E-4990-8642-DC4C2CB7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3A9E5-6194-4F07-B4B8-FF2A4AC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INVOCATION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E6113-A64A-4036-8EFC-8CA6555D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每次 agent 调用都走同一个 kernel，工具副作用统一过治理层。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C5F6C-17BB-4C00-AFA4-979AD70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762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C64D6-CC64-4D1B-B6C6-5B5BC94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Entry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958AD-8591-4300-86B2-E61FB82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chat / webhook / cron / delegation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9DF85-3563-4EEB-8716-73139D7F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124A4-B9BA-4E28-9BB2-F14F19E1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860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077B2-87C7-44B1-9AD6-4DAFAD5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495550"/>
            <a:ext cx="1762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BEDF0-AF01-4C24-BB6E-5FD61616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05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invoker.py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7610A-94BE-4DA4-B8E3-BD168DF4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28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resolve model, tenant, tools, dynamic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013B1-4228-4D68-AD5E-E076B454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03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B47EF-9AA0-41A0-A758-9D363377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860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5A61D6-4616-4667-A3E0-62AF2080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62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5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F7703-B909-403C-8EF7-F9CF2F10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E7C66"/>
                </a:solidFill>
                <a:latin typeface="PingFang SC"/>
                <a:ea typeface="PingFang SC"/>
                <a:cs typeface="PingFang SC"/>
              </a:rPr>
              <a:t>AgentKernel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3111B-4AB9-4031-B61A-B4F88EF3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multi-round LLM loop, LoopGuard, compaction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929C7-4FE5-4F2C-90C7-A9DDB0D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03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0D3CF-36C6-4E3C-981F-DCCC752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860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4B386-85E0-4394-8ACD-5447EDF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95550"/>
            <a:ext cx="1762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3311DB-1375-43E0-9622-B1CF70D0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05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ToolRuntime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0DDEE-9796-4E41-B830-DC918BEE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28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execute() is the side-effect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3D6C7-FAED-4462-8EA3-ABC0208A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003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E8237F-0DB5-422D-AE52-B7DA075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8607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DECC5-4894-4A3D-BAC5-A937FB06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95550"/>
            <a:ext cx="17621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F9194-DAAC-4775-BB2F-1A3FADE2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Handlers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EC733A-3DAC-42DE-81C3-33F855EB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28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files, search, office, Feishu, MCP, DR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259671-5258-4294-B01B-52772A56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14800"/>
            <a:ext cx="4324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CF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0861B-2519-493B-B150-76133860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43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A2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88A2E"/>
                </a:solidFill>
                <a:latin typeface="PingFang SC"/>
                <a:ea typeface="PingFang SC"/>
                <a:cs typeface="PingFang SC"/>
              </a:rPr>
              <a:t>Memory Control Plane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6A57D-B5BA-468B-B752-D17B09E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354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动态注入 owner/company/goal/open-loop 相关记忆；敏感内容按访问权限剥离。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C1064E-6924-40A9-9E82-62B585E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-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48644-33E4-4FF6-A019-B14990B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8A2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88A2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FB2B84-F2E1-4348-9FC0-BE373A0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14800"/>
            <a:ext cx="3200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E7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113EC0-CFAD-4ED7-8B36-1DB2A609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43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E3E5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AE3E5B"/>
                </a:solidFill>
                <a:latin typeface="PingFang SC"/>
                <a:ea typeface="PingFang SC"/>
                <a:cs typeface="PingFang SC"/>
              </a:rPr>
              <a:t>Preflight / Checkpoint /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DA808E-5278-4E50-B8FD-43FFDFF9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863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外部可见、敏感、不可逆或公司边界动作在工具执行前被拦截或升级。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B808D2-5D7D-4C40-8DEA-E40D8F9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C9AB91-C500-48DF-8B99-95AFE94F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B56DE7-C32B-4E69-882F-F8CCCC3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backend/app/runtime/invoker.py; backend/app/kernel/engine.py; backend/app/tools/service.py</a:t>
            </a:r>
          </a:p>
        </p:txBody>
      </p:sp>
    </p:spTree>
    <p:extLst>
      <p:ext uri="{BB962C8B-B14F-4D97-AF65-F5344CB8AC3E}">
        <p14:creationId xmlns:p14="http://schemas.microsoft.com/office/powerpoint/2010/main" val="3419245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03693-53EC-4A53-949E-70EF1FD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C6BDC-B945-4245-8FF5-011CF28D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5AB63-7E19-4EDA-AD04-1EABBAB4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09CC-F395-478C-8303-B8A61C6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0443C-1D38-45FF-AF2E-D3707A3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2A6FB-77EE-4B29-ADEA-7461364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MEMORY CONTROL 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F0FCA-DB6A-4C83-A3BE-40224CF2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66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记忆不是一个向量库；它是 agent 身份、证据和权限共同治理的资产层。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AFCA2-8E0C-44C1-AC76-810A615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6471"/>
            </a:srgbClr>
          </a:solidFill>
          <a:ln xmlns:a="http://schemas.openxmlformats.org/drawingml/2006/main" w="19050">
            <a:solidFill>
              <a:srgbClr val="AE3E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201E9-878A-4F79-8F89-A9BF8AA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8122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3E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3E5B"/>
                </a:solidFill>
                <a:latin typeface="Aptos"/>
                <a:ea typeface="Aptos"/>
                <a:cs typeface="Aptos"/>
              </a:rPr>
              <a:t>soul.md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9D714-4EDB-4A3F-9293-D3552A65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098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永久身份：角色、边界、质量标准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A6558-FC07-4AC1-9D55-41B1EB14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6471"/>
            </a:srgbClr>
          </a:solidFill>
          <a:ln xmlns:a="http://schemas.openxmlformats.org/drawingml/2006/main" w="19050">
            <a:solidFill>
              <a:srgbClr val="C88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6DD2E-B21A-4DB2-A97D-3B852FA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860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8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8A2E"/>
                </a:solidFill>
                <a:latin typeface="Aptos"/>
                <a:ea typeface="Aptos"/>
                <a:cs typeface="Aptos"/>
              </a:rPr>
              <a:t>T3 semantic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499B6-2EF5-4D31-A6A8-38E5CBF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14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Heartbeat curation: feedback / knowledge / strategies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5A3-F865-4601-A8B5-FE3868C8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6471"/>
            </a:srgbClr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AA617-7C8E-4527-ACFB-044DC4D5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9092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T2 learnings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CD46F-011E-4D4A-A656-BC4519D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19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extract_agent: atomic learnings with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2666-A27D-48D0-B988-399A14AF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514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6471"/>
            </a:srgbClr>
          </a:solidFill>
          <a:ln xmlns:a="http://schemas.openxmlformats.org/drawingml/2006/main" w="19050">
            <a:solidFill>
              <a:srgbClr val="2E72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6882D-C330-44B6-9392-0F6D54A4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2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2B8"/>
                </a:solidFill>
                <a:latin typeface="Aptos"/>
                <a:ea typeface="Aptos"/>
                <a:cs typeface="Aptos"/>
              </a:rPr>
              <a:t>T0 raw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48DFA-071B-4862-B43D-8430AFDF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3243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session hooks: cursor logs, tool calls, tool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83BE6-6944-4E3C-839D-ED57E840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103F1-A474-4C9B-9100-DBFDB6AE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84744-8296-4FA6-8A80-4005172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Principal stack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F4B84-07C1-460D-B57B-FA347CAD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955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company / direct owner / current user / delegation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DD3FA-088D-4B50-9B69-0E4AE4BD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C88A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109EB8-A8F8-497E-89F8-14B00340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19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Write safety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335BBC-6AD0-4B27-B721-08FC6BD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38425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privacy classification, sensitivity labels, PL4 credential rejection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8AF1E-ED0A-499B-91A8-267607B5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2E72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653C6-E35F-4D00-A332-DFA5F855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62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Dynamic activation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47955-17AA-47D3-AE28-3614C35A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8135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goal relevance, retention, open-loop pressure, sensitivity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787DF3-A0C9-4BBF-AA0C-4604B59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AE3E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2A7B51-5FC0-47BE-9B00-BE53F3E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052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Decision trace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8863F-7E55-435E-9111-8CC10182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24275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why the agent acted, asked, refused, or escalated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24C764-226D-4482-8247-632DBB2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77A6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38256-8831-40F3-B369-621A6D1A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481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Steward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84DAF-58C7-4BB3-AF50-D1883AB5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low-risk preparation; external-visible actions require checkpoint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E5D42F-513D-4F48-B1F4-C3B109FB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6DF051-0CEF-45D4-B38B-0287A882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250244-1670-45B8-8068-A303593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README.md Memory Pyramid + backend/app/memory/*</a:t>
            </a:r>
          </a:p>
        </p:txBody>
      </p:sp>
    </p:spTree>
    <p:extLst>
      <p:ext uri="{BB962C8B-B14F-4D97-AF65-F5344CB8AC3E}">
        <p14:creationId xmlns:p14="http://schemas.microsoft.com/office/powerpoint/2010/main" val="1499756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60249D-1AF2-431C-AC4B-43327BF0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C3E9A-2432-468F-AB0C-75A63A81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B9C83-DC5B-4EA8-A460-A74F74DF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9E941-9824-4AA2-AF6F-F0C973CD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9FEB2-C675-4DDE-BAB3-E95820AB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CA409-2663-4B09-8867-8B5A9E1A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SELF-EVOLUTION FLYWHEEL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B2CEC-852B-46A9-95B0-D395D4AE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自我进化不是直接改长期记忆；</a:t>
            </a:r>
          </a:p>
          <a:p xmlns:a="http://schemas.openxmlformats.org/drawingml/2006/main">
            <a:pPr algn="l">
              <a:defRPr sz="22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它先形成可验证、可回滚的候选资产。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E48EC-9D4B-4AE8-A03C-00A81B16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19050">
            <a:solidFill>
              <a:srgbClr val="71A9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6E859-36D7-4066-AF9B-AE9B3D8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Response</a:t>
            </a:r>
          </a:p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83A77-8E4E-4456-9099-F5E43BF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432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BB981-625E-49D7-B8C4-1454C192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1A9D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1A9D6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850DE-0365-4C8C-9D94-F45D36C1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19050">
            <a:solidFill>
              <a:srgbClr val="C88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12115-23ED-4988-B5D3-69B0E7E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71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Fast</a:t>
            </a:r>
          </a:p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Reflection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7AB0C-FA6A-4F75-80AA-BB7C4E7F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F879C-AC5F-4C91-91D6-C0C526FB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8A2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88A2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AD776-A801-48AE-AFFD-005E413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A51FC-C955-4EED-A851-7C370D85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Session</a:t>
            </a:r>
          </a:p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Projection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0A0E4-5664-43D7-A0F4-FB52B537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0C1D8-2433-4731-A830-062E362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6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7C66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D269E3-2854-4B43-ADC1-7461E8C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19050">
            <a:solidFill>
              <a:srgbClr val="AE3E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145F0-D76D-42F6-A876-D82C4F9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Verification</a:t>
            </a:r>
          </a:p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0B561-200E-4B3B-B8AE-BEE6A9E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72A1A-76F4-4127-A1C1-929C872D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3E5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E3E5B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5B669-255D-4D7D-8753-8112125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200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6"/>
          </a:solidFill>
          <a:ln xmlns:a="http://schemas.openxmlformats.org/drawingml/2006/main" w="19050">
            <a:solidFill>
              <a:srgbClr val="77A6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160BF-31B5-4554-A59B-E7DBF4B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Candidate /</a:t>
            </a:r>
          </a:p>
          <a:p xmlns:a="http://schemas.openxmlformats.org/drawingml/2006/main">
            <a:pPr algn="ctr">
              <a:def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Promotion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5343E-ECE2-4D3B-B6B0-22F5119F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3028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40"/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613B1-2BFF-475F-B5CD-2F05056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Next-turn learning without unreviewed durable writes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57B48D-2D2C-493C-9CC7-01E9A565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242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6112D0-584C-463B-B91F-DBE3529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724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A3812-3971-4FBE-ACA4-1EF53EDC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84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DATED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D13AA-AF05-434C-8838-DAA962E4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P0-P7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9A6E40-DD6E-442B-8454-2F7780F8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7C0B8"/>
                </a:solidFill>
                <a:latin typeface="PingFang SC"/>
                <a:ea typeface="PingFang SC"/>
                <a:cs typeface="PingFang SC"/>
              </a:rPr>
              <a:t>completed self-evolution substrate phases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F4EBF9-5A33-4373-B1CA-A688BFC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01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BF92D9-372F-4B3B-8005-B7C84F7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6 bakeoff scenarios</a:t>
            </a:r>
          </a:p>
          <a:p xmlns:a="http://schemas.openxmlformats.org/drawingml/2006/main">
            <a:pPr algn="l">
              <a:defRPr sz="13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scores 90-96</a:t>
            </a:r>
          </a:p>
          <a:p xmlns:a="http://schemas.openxmlformats.org/drawingml/2006/main">
            <a:pPr algn="l">
              <a:defRPr sz="135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passed=true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2078B-6A34-421C-B6C2-4FD57345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Proof is deterministic repo checks, generated 2026-05-24.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96FFC1-5255-4238-A6E9-9B7E9C4B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DD9BE2-96A5-4EA7-8D5B-D274968F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Hive technical roadshow / 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711241-6596-41A3-A1DA-4AEB52CF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865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source: docs/self-evolution-sota-plan.md; docs/self-evolution-bakeoff-report.json</a:t>
            </a:r>
          </a:p>
        </p:txBody>
      </p:sp>
    </p:spTree>
    <p:extLst>
      <p:ext uri="{BB962C8B-B14F-4D97-AF65-F5344CB8AC3E}">
        <p14:creationId xmlns:p14="http://schemas.microsoft.com/office/powerpoint/2010/main" val="3560027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732BE-933F-4215-9F2B-9BA7897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F5F4D-8C10-4EE9-B5B5-930CDC5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6CFC6-3CD7-4C90-87EB-A48F0A0B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4AE42-C70E-4E48-8FBF-76B3AB4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5AF0A-F86E-4497-AB8E-94A6E613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45EFE-5FB4-40BA-88C1-A0636248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PLAN MODE x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BC317-3F4E-49C4-96F2-69A89A7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两个并列底座：Plan Mode 管确认边界，Workflow 管确定性执行控制流。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822FF-50E1-4338-B33C-5F6F1EA3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038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7EF"/>
          </a:solidFill>
          <a:ln xmlns:a="http://schemas.openxmlformats.org/drawingml/2006/main" w="19050">
            <a:solidFill>
              <a:srgbClr val="6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159D3-130B-431A-8FB9-E7C55A6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E5A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E5AA8"/>
                </a:solidFill>
                <a:latin typeface="Aptos"/>
                <a:ea typeface="Aptos"/>
                <a:cs typeface="Aptos"/>
              </a:rPr>
              <a:t>Plan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1C159-A010-493C-8415-0F0D8641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回答：能不能开始？要不要人确认？确认的计划是什么？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7289C-2902-4156-A331-7E35C470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关键对象：confirmed plan、action artifact、permission boundary、human approval。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BE852-A39B-4F2F-91ED-B681E57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9525">
            <a:solidFill>
              <a:srgbClr val="6E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36463-3982-4D80-A039-56BA6673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CONFIRMATION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9F2CD-7CBC-43EE-A47A-51881162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47900"/>
            <a:ext cx="40386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5"/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EB5AC-B99C-45E7-9330-E8C93286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0E1D3-E8F0-42CE-BC54-368964D9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718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回答：开始之后怎么推进、暂停、恢复、审计？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FDBFC-7EE1-40C1-A505-54B000E6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43300"/>
            <a:ext cx="3143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关键对象：structured definition、journal、quota、gate/wait、definition_hash。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43485-001D-4EC6-A0A7-EF1DED6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3011C-1BA7-4FB3-936E-1F3C24D9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767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EXECUTION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2498D-06BC-4A7E-8211-856734E7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847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5934C-AADD-4287-8173-31DE7EBE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813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组合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不混成一个概念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6F2CD-4BAC-4152-B189-40F1DEEC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5280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18967-7444-4851-9D46-FCE41024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842F7B-C4C8-40E3-81D9-BE63CF47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62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AB1AD3-36EA-4DB9-B8FD-BEC1269A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480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1FFB9-8F51-44A1-8C0C-137D8DF1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8115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6578B-4CD0-4988-94A6-5D223C75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750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共享底座：RuntimeTask · tenant boundary · budget envelope · audit · resume · checkpoints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9C51E-8667-4B26-A978-90B66C25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0E5F1C-0FBC-4836-B57E-B8AA47F6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ABC6E-9132-43F7-AF8C-6E9D69AB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docs/workflow-source-capability.md</a:t>
            </a:r>
          </a:p>
        </p:txBody>
      </p:sp>
    </p:spTree>
    <p:extLst>
      <p:ext uri="{BB962C8B-B14F-4D97-AF65-F5344CB8AC3E}">
        <p14:creationId xmlns:p14="http://schemas.microsoft.com/office/powerpoint/2010/main" val="20871957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C46A8-3448-4B94-BFDC-664633FF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2CCE-E50E-4F57-8541-8745FA63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24246-9647-4674-9E79-DEB4200D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CF988-4C16-4CA7-AEFF-7183732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B84A1-82F1-4642-A723-C42734B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9EEE8-C950-4AA5-AA18-F07EF891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DETERMINISTIC WORKFLOW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7BE5D-F7C8-42B4-92FC-AA5EA43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Workflow 的核心不是多一个任务功能，而是给高风险 agent 工作一条可恢复的执行轨道。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C6EAC-1156-46BC-9EC0-905B584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2233F-9A93-447B-8784-1A605CE3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definition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FE726-EF97-4D4E-923C-0691DA07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sequence / bounded fanout / condition / gate / 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BC11F-C2F0-40FB-9BEA-CAEE0861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36D4A-BEA5-4AD8-A1C5-0D1F2021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2956A-75E6-4899-BC6C-905C673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908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C88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0C588-F1E1-4C20-90D8-E15708B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8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8A2E"/>
                </a:solidFill>
                <a:latin typeface="Aptos"/>
                <a:ea typeface="Aptos"/>
                <a:cs typeface="Aptos"/>
              </a:rPr>
              <a:t>compile + admission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CDB2A-8EA8-4BAC-887D-89AF9657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schema forbid extra, capability binding, risk grade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5648F-34C8-43BA-9BC0-B6AD1C94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07E40-D0C9-4533-9F02-8AFB4C9A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1B01E-FDAD-41E3-88AF-3033698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908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2E7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87FA1-05AB-41F8-8B7C-F3686492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2B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72B8"/>
                </a:solidFill>
                <a:latin typeface="Aptos"/>
                <a:ea typeface="Aptos"/>
                <a:cs typeface="Aptos"/>
              </a:rPr>
              <a:t>RuntimeTask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F84BB-05D4-4E09-9210-5BC36EDF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task_type=workflow, metadata mirrors tenant/hash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F3961-7491-473B-8AF6-4CD811B9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E02CE-F4E4-4966-9EBA-D0F6332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95647A-3F3B-4E73-B98B-77B206E8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908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AE3E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3C6EC-0256-4F82-A9DA-F45D09A8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E3E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E3E5B"/>
                </a:solidFill>
                <a:latin typeface="Aptos"/>
                <a:ea typeface="Aptos"/>
                <a:cs typeface="Aptos"/>
              </a:rPr>
              <a:t>journal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72C737-92A7-4703-B918-0CBD33BB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WorkflowStep + WorkflowLeafCall, input_hash replay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37FF3-C524-42CB-A8AD-CD97F7EC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D8C64-4921-4489-9F06-4E767BF8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6384E"/>
                </a:solidFill>
                <a:latin typeface="Aptos Mono"/>
                <a:ea typeface="Aptos Mono"/>
                <a:cs typeface="Aptos Mono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55AE6-0D90-4C83-880E-5168104C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77A6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BE29DE-BD45-4C54-BDBA-A6E074A2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62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7A6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7A68A"/>
                </a:solidFill>
                <a:latin typeface="Aptos"/>
                <a:ea typeface="Aptos"/>
                <a:cs typeface="Aptos"/>
              </a:rPr>
              <a:t>resume / trigger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2DD7E6-0DB5-4D04-86BB-F8EC219C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46F"/>
                </a:solidFill>
                <a:latin typeface="Aptos"/>
                <a:ea typeface="Aptos"/>
                <a:cs typeface="Aptos"/>
              </a:rPr>
              <a:t>daemon drain, workflow_ref, version/hash pin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4708A-ACE6-4FED-976D-F1DE4E5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01945-89FA-4C24-BF97-8DB53C5E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8A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8A2E"/>
                </a:solidFill>
                <a:latin typeface="Aptos"/>
                <a:ea typeface="Aptos"/>
                <a:cs typeface="Aptos"/>
              </a:rPr>
              <a:t>No arbitrary code execution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E6CEB-8A97-4026-9ED0-48C6DCD5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definition 是数据，引擎解释执行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591E6F-E8C4-4CF7-B302-A1556A61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76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54A11-49B0-44B6-A322-7CD8F728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2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2B8"/>
                </a:solidFill>
                <a:latin typeface="Aptos"/>
                <a:ea typeface="Aptos"/>
                <a:cs typeface="Aptos"/>
              </a:rPr>
              <a:t>Gate irreversible steps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E05D10-B1FD-43D3-AA3C-B0CFA8E4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对外/不可逆步骤必须 checkpoint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9732B0-27AF-42EA-B619-A0064CDC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C0EAD4-8B98-4AE6-ABDC-ED0D578F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8A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8A2E"/>
                </a:solidFill>
                <a:latin typeface="Aptos"/>
                <a:ea typeface="Aptos"/>
                <a:cs typeface="Aptos"/>
              </a:rPr>
              <a:t>Leaf-level replay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32EB3E-056C-417A-A023-7DBE0C00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8 叶跑完 7 叶后恢复只补 1 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D42723-0B06-4260-9712-9569B441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F9C244-1ECB-4DAD-8843-7CFE785D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291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2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2B8"/>
                </a:solidFill>
                <a:latin typeface="Aptos"/>
                <a:ea typeface="Aptos"/>
                <a:cs typeface="Aptos"/>
              </a:rPr>
              <a:t>Feature flags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DFF898-D529-45B8-AFC9-184B10D8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149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runtime/trigger enabled; DR workflow path gated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DFB790-3C4D-43A4-8AA0-FF761A3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A648E7-233D-493A-B136-DD0800F3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09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5AA28A-3162-4FF7-BC2D-08F67C5C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backend/app/runtime/workflow_definition.py; workflow_engine.py; workflow_daemon.py</a:t>
            </a:r>
          </a:p>
        </p:txBody>
      </p:sp>
    </p:spTree>
    <p:extLst>
      <p:ext uri="{BB962C8B-B14F-4D97-AF65-F5344CB8AC3E}">
        <p14:creationId xmlns:p14="http://schemas.microsoft.com/office/powerpoint/2010/main" val="17404063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466E2-EA44-40D2-8B37-54A9DE10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D94C1-FD03-416B-B1E8-D0EB04DE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5CAC4-4A03-4CD8-A625-3E34F05E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75407-DA01-469D-A7AC-A53C0677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FD68E-A541-4AE1-9A24-C10FD2E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A73D8-6829-43B5-9D09-C7E4425F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ENTERPRISE TRUST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A4D61-0967-44A2-AA8E-6D6D6B7F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85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Hive 的治理不是 prompt 免责声明；它在工具执行、数据库会话和审计对象上 fail-closed。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8113E-8388-46E0-8582-7815D00A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20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C40"/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DA513-C5C9-4FB9-B820-7DFB1007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0E7"/>
                </a:solidFill>
                <a:latin typeface="Aptos"/>
                <a:ea typeface="Aptos"/>
                <a:cs typeface="Aptos"/>
              </a:rPr>
              <a:t>ToolRuntimeService.execute()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ADF65-8B05-455B-8592-BA5E3E36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single side-effect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98163-2D51-41C2-AE18-6B5E86B4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19050">
            <a:solidFill>
              <a:srgbClr val="71A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BEE16-8DAE-4AE9-A7A3-075BEF5D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Tenant / RLS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7ED1A-019E-400E-8F54-145328A7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PostgreSQL RLS + explicit tenant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B7FC2-364A-4804-871D-5648CBAF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907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19050">
            <a:solidFill>
              <a:srgbClr val="C88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4F418-1E91-4D4A-AA97-E801765F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43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Capability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8386D-1103-452E-80F4-2985E6B0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28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agent policy, tenant defaults, approval escalation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EC2AB-3DED-4031-AAF1-99743E36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19050">
            <a:solidFill>
              <a:srgbClr val="D95F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75061-7FF3-42CA-90AC-4BE2DA95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Action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C06C9-8E66-4A35-A9BB-C803116D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external-visible, sensitive, irreversible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70BF4-C819-40A9-AAED-978A5CF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19050">
            <a:solidFill>
              <a:srgbClr val="AE3E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D5B855-F257-4DE9-AA03-7C99ADFB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386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Checkpoint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4D8CA-1567-4B7B-8196-DEA17DC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human-in-the-loop metadata and approval cards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73267-E87A-4D1F-9496-B28D5ACD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19050">
            <a:solidFill>
              <a:srgbClr val="77A6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1148A-7ADE-47CB-881A-714C7C27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Audit + decision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B1679-EA5E-44A7-AB43-2F4014FD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why acted, asked, refused, escalated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CCC39-E0D5-4920-90FB-ED1C8575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19050">
            <a:solidFill>
              <a:srgbClr val="6E5A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D7494-515C-4666-B3BA-132CF6BA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243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Secrets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57FC0-9EFD-4EFF-901E-C6C120CC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01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encrypted provider and channel credentials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E1034-D1C3-4732-81B3-54E0527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70E10-ABEF-49A7-8A76-8BD2B7D8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E8B54-C702-4F35-BEE8-7303287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CACB90-94D9-4838-8710-DACE69FE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67200"/>
            <a:ext cx="1676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FA2FE-6755-46F8-90D0-8BBCB72F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B0C569-FA7D-4348-A4C6-BAE95147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D06D22-A3E3-4E6C-B063-970D481D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D56B6-218F-4A44-9558-8C255BA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Hive technical roadshow / 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7A8033-348D-43B2-A2B4-09A6FE20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865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source: backend/app/tools/governance.py; action_preflight.py; capability_gate.py</a:t>
            </a:r>
          </a:p>
        </p:txBody>
      </p:sp>
    </p:spTree>
    <p:extLst>
      <p:ext uri="{BB962C8B-B14F-4D97-AF65-F5344CB8AC3E}">
        <p14:creationId xmlns:p14="http://schemas.microsoft.com/office/powerpoint/2010/main" val="639511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E1F2D-395F-4099-9DB0-AEE536B4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AC08F-6EFD-41B6-A601-1F035F3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9BC78-DDFB-45CB-9AD5-0B4BC3B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98861-43B1-4894-83DF-FA497490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09D2C-43DE-4952-A834-7CD4C302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6E0BB-C8BD-437A-BCC3-B00E76E1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PRODUCT PROOF 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E4E29-A8FA-435C-A5B3-3B40942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这不是库，而是带 UI、渠道、办公和扩展治理的多 agent 平台。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AC74E-0371-4CF4-B997-926DF7D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2E72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4E7C2-712A-416F-B465-BDE4121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2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2B8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C0801-5CF0-4658-9EA9-71634A51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Agent Detail</a:t>
            </a:r>
          </a:p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Agent Circle</a:t>
            </a:r>
          </a:p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Messages / Chat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B3B48-66C1-4EC7-B774-649F0B59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A85E9-AD35-4D07-96CB-B884DD9A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Company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2C350-FC5A-4222-B253-C30F4C67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users / org</a:t>
            </a:r>
          </a:p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models / memory</a:t>
            </a:r>
          </a:p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tools / quotas /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45D02-A564-4580-8E3A-D97A5891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2857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C88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A1E6C-247F-48B7-95DA-C31677C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8A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8A2E"/>
                </a:solidFill>
                <a:latin typeface="Aptos"/>
                <a:ea typeface="Aptos"/>
                <a:cs typeface="Aptos"/>
              </a:rPr>
              <a:t>Platform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8D25A-CA82-43BD-AADA-5D2059D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companies</a:t>
            </a:r>
          </a:p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system config</a:t>
            </a:r>
          </a:p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operator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6871C-0031-4030-92EE-F9DE3C17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971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9525">
            <a:solidFill>
              <a:srgbClr val="C8BD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67C23-FFBF-40A6-96D4-DCC3F99F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2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2B8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E38D3-C80C-4AA1-866B-C1DD77C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Feishu / Lark · Slack · DingTalk · WeCom · WeChat Personal · Teams · Telegram · 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49379-47C9-4D79-AD2E-C9713CF3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081A3-47D4-456F-8DAA-739591E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66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1F6B3-CABA-4A34-9CF8-9A7E8997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38700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Skills · MCP servers · Office document tools · subagents · workflows · deep research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912A8-436D-4D65-BAFB-03B76AF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3BD84-028B-419E-A88B-FBF5CEE7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A13B7E-2B9B-47CE-B384-C73C0F1B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README.md Product surfaces / Channels / Extension model</a:t>
            </a:r>
          </a:p>
        </p:txBody>
      </p:sp>
    </p:spTree>
    <p:extLst>
      <p:ext uri="{BB962C8B-B14F-4D97-AF65-F5344CB8AC3E}">
        <p14:creationId xmlns:p14="http://schemas.microsoft.com/office/powerpoint/2010/main" val="839848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D7089-3E54-48DC-A368-6E9ACAA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DAD6C-D9A1-4EB0-A9F3-803A8F3B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01843-8B78-4FB6-B1F6-E7474B85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DC5C6-3C87-48B6-A39E-01E9412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8502F-2410-4BD9-A8EA-1CB8391F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3D96B-34F0-4435-A939-E70410CD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DEEP RESEARCH + SUBAGENTS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2C207-3EBF-4304-A10A-DFB15C34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Deep Research 是复杂 agent 工作的压力测试：fanout、证据、合成、质量门都要进统一 runtime。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B4B7E-4683-412F-9FAB-0DF02FE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57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2E72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294EF-5BBB-42D3-BFC4-495337AC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2B8"/>
                </a:solidFill>
                <a:latin typeface="PingFang SC"/>
                <a:ea typeface="PingFang SC"/>
                <a:cs typeface="PingFang SC"/>
              </a:rPr>
              <a:t>当前可见能力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5E50A-CAD8-48F7-BAF9-E4B8BEF5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2E7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02E0B-BC3B-4372-ACAB-908B57D0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deep_research_start/check/export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60286-8F1C-4177-B5F7-C94015DF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2E7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72E09-0607-490B-BC2C-1F11ABF4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spawn_subagent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102C32-DFDE-4780-9C4A-952BAF4D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2E7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D854A-8A27-4988-A829-8C5881F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Work Ledger 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D0059-F716-49B6-8694-67801C7B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2B8"/>
          </a:solidFill>
          <a:ln xmlns:a="http://schemas.openxmlformats.org/drawingml/2006/main" w="0">
            <a:solidFill>
              <a:srgbClr val="2E72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E6761-B99D-46A9-8268-F8B2A8D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source / artifact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A985D-B0BE-447A-B9AC-7CB51BAC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2857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AE3E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35FC5-A6F5-4ED6-8C78-42A528E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E3E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E3E5B"/>
                </a:solidFill>
                <a:latin typeface="PingFang SC"/>
                <a:ea typeface="PingFang SC"/>
                <a:cs typeface="PingFang SC"/>
              </a:rPr>
              <a:t>已识别风险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183B3-7922-428B-A40C-E7B6C4CB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AE3E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2C23F-269E-4FC3-9A0F-9F1CEA08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worker context 污染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667F6-F2B5-4705-B98B-D3C0C9FF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AE3E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55D92-61F2-405C-B23F-47AD0AFF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final writer 拼接感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96320-3F0C-4F44-B238-1C72A839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AE3E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F6917-D698-431C-8FBE-9F300125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busy-poll / duplicated export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E31408-3ACE-47F7-B436-0D265FB9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3E5B"/>
          </a:solidFill>
          <a:ln xmlns:a="http://schemas.openxmlformats.org/drawingml/2006/main" w="0">
            <a:solidFill>
              <a:srgbClr val="AE3E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7FD01-BFC3-434A-983F-BAC1FD2A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新 workflow path 默认 gated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405B6-B14F-4741-A75C-ACD22C3A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2857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EC8182-FCF6-41E1-886C-05E26853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7C6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7C66"/>
                </a:solidFill>
                <a:latin typeface="PingFang SC"/>
                <a:ea typeface="PingFang SC"/>
                <a:cs typeface="PingFang SC"/>
              </a:rPr>
              <a:t>合流路径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17258-9CC7-4A67-B17D-9B6ED0D2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EC960-9745-4E16-BB7F-4FC1CCEA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Leaf Preset Registry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DD2A6B-D19D-42E8-B7B1-1D76685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93578-0577-48E8-B0FD-8B58363F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governed subagent leaves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2D9C0C-ABF9-45AF-BEB4-96B97458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54A74B-1629-4897-B0D3-9E4383F6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workflow journal + artifacts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C6FBFA-F7DD-42AD-847F-7E133B7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E7C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7FD20A-BD78-4AC6-9FE1-E2287CB3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84E"/>
                </a:solidFill>
                <a:latin typeface="Aptos"/>
                <a:ea typeface="Aptos"/>
                <a:cs typeface="Aptos"/>
              </a:rPr>
              <a:t>critic + report composer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0721ED-A81E-415C-B2B9-AF397A95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00650"/>
            <a:ext cx="817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CE"/>
          </a:solidFill>
          <a:ln xmlns:a="http://schemas.openxmlformats.org/drawingml/2006/main" w="9525">
            <a:solidFill>
              <a:srgbClr val="C88A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1047E-EC58-4770-B205-99B1A49C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95900"/>
            <a:ext cx="762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路演表达边界：可以讲“Deep Research 是统一 runtime 的高价值试点”，不要讲成“新 workflow 路径已经默认生产打开”。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733E97-46F8-457E-80F1-F29F65B8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B3C8EB-30A2-4850-81FA-873AD2AB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6C8AC-B710-49D7-A2F2-6A764CBF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docs/deep-research-workflow-unification.md; backend/app/tools/handlers/deep_research.py</a:t>
            </a:r>
          </a:p>
        </p:txBody>
      </p:sp>
    </p:spTree>
    <p:extLst>
      <p:ext uri="{BB962C8B-B14F-4D97-AF65-F5344CB8AC3E}">
        <p14:creationId xmlns:p14="http://schemas.microsoft.com/office/powerpoint/2010/main" val="19432767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0E2275-691B-41DC-9CC3-80F1048E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D7F44-8F72-4392-812E-4FEA348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E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A466-86E8-4CE5-9663-1D5F567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FA4C4-4D7C-4CAC-BA04-C4D06492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F966-4F3E-4033-8F0B-9680F6C9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1D7B1-E946-40D6-989A-BAB4EAAC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CURRENT ENGINEERING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2A5AD-EBF0-4FBB-9669-DE732556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当前 checkout 已经是一个完整平台体量，不是原型 prompt demo。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44D05-FF4C-4901-8A96-79DC7AB9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API routers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57375-1ED3-4049-87D5-88D89165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392C7-0CE5-4B24-8CE9-D3B03EB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17811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A9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E7B42-BB55-46AB-947C-679F357C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717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61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89552-EF1A-4225-A8BD-A9FCC055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658F0-3E4E-4CE3-8EB5-5F58572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EA92C-B09C-4882-B529-1BED349A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1190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6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C66F7-3DBF-4F06-851D-87D99FE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A3049-24B9-4C3F-A819-7081B5F7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6695C-4CA1-4E2A-B1E0-8756C5B3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98D51-8211-434D-AD84-C05C41FE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46005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432D6-E714-49C9-8F84-D5318E25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004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158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CBF4D-A7F6-400B-A481-6D78100A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Migrations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855DA-C670-4359-8A54-56ACB289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71900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37248-4939-4B4E-9E18-CD25F8F7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71900"/>
            <a:ext cx="1866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42C94-B2AF-4B2A-85D8-006A669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64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78425-3C37-4E88-A1F9-966C4F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Frontend API domains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DC7BC-4F24-4621-95CF-6A97DF12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967AD-C881-4BEB-B689-0D4C879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876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244356-6690-4125-8DD7-0D11C5F2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B1F39-167D-4B46-96B0-5EFB6B29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@tool decorators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59327-00AA-42CE-A608-05F5EFC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00600"/>
            <a:ext cx="4953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4081A4-0B7B-476C-BC83-FF111A20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00600"/>
            <a:ext cx="31146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09D3FF-BD65-4644-91E8-8DC822D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4F0E7"/>
                </a:solidFill>
                <a:latin typeface="Aptos Display"/>
                <a:ea typeface="Aptos Display"/>
                <a:cs typeface="Aptos Display"/>
              </a:rPr>
              <a:t>107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EB0DC-3466-4D3E-9E48-EA353572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038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1"/>
          </a:solidFill>
          <a:ln xmlns:a="http://schemas.openxmlformats.org/drawingml/2006/main" w="9525">
            <a:solidFill>
              <a:srgbClr val="50607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5D6AB4-F178-455A-8526-E76F1F6A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622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STACK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16A4C5-9B94-4C37-9D33-954204BC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24150"/>
            <a:ext cx="1524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7"/>
                </a:solidFill>
                <a:latin typeface="Aptos"/>
                <a:ea typeface="Aptos"/>
                <a:cs typeface="Aptos"/>
              </a:rPr>
              <a:t>FastAPI / Python 3.12</a:t>
            </a:r>
          </a:p>
          <a:p xmlns:a="http://schemas.openxmlformats.org/drawingml/2006/main">
            <a:pPr algn="l">
              <a:defRPr sz="1125" b="0">
                <a:solidFill>
                  <a:srgbClr val="F4F0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7"/>
                </a:solidFill>
                <a:latin typeface="Aptos"/>
                <a:ea typeface="Aptos"/>
                <a:cs typeface="Aptos"/>
              </a:rPr>
              <a:t>React 19 / TypeScript 5</a:t>
            </a:r>
          </a:p>
          <a:p xmlns:a="http://schemas.openxmlformats.org/drawingml/2006/main">
            <a:pPr algn="l">
              <a:defRPr sz="1125" b="0">
                <a:solidFill>
                  <a:srgbClr val="F4F0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7"/>
                </a:solidFill>
                <a:latin typeface="Aptos"/>
                <a:ea typeface="Aptos"/>
                <a:cs typeface="Aptos"/>
              </a:rPr>
              <a:t>PostgreSQL 15 + Redis 7</a:t>
            </a:r>
          </a:p>
          <a:p xmlns:a="http://schemas.openxmlformats.org/drawingml/2006/main">
            <a:pPr algn="l">
              <a:defRPr sz="1125" b="0">
                <a:solidFill>
                  <a:srgbClr val="F4F0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7"/>
                </a:solidFill>
                <a:latin typeface="Aptos"/>
                <a:ea typeface="Aptos"/>
                <a:cs typeface="Aptos"/>
              </a:rPr>
              <a:t>Docker / Railway</a:t>
            </a:r>
          </a:p>
          <a:p xmlns:a="http://schemas.openxmlformats.org/drawingml/2006/main">
            <a:pPr algn="l">
              <a:defRPr sz="1125" b="0">
                <a:solidFill>
                  <a:srgbClr val="F4F0E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0E7"/>
                </a:solidFill>
                <a:latin typeface="Aptos"/>
                <a:ea typeface="Aptos"/>
                <a:cs typeface="Aptos"/>
              </a:rPr>
              <a:t>14+ LLM providers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A1BE87-E468-48A1-BEA9-692D3587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0335B3-6D56-40F3-8843-FFFC051C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7C0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7C0B8"/>
                </a:solidFill>
                <a:latin typeface="Aptos"/>
                <a:ea typeface="Aptos"/>
                <a:cs typeface="Aptos"/>
              </a:rPr>
              <a:t>Version: backend 1.7.0 / frontend 1.7.0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391F4A-8EE2-4BD3-9C3B-F256C17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EBD2A3-DE5B-4F5C-B604-42BF1B0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Hive technical roadshow / 13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B74B6B-6572-4A52-88F0-9553BF6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865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B7C0B8"/>
                </a:solidFill>
                <a:latin typeface="Aptos Mono"/>
                <a:ea typeface="Aptos Mono"/>
                <a:cs typeface="Aptos Mono"/>
              </a:rPr>
              <a:t>source: live repo scan on 2026-06-05</a:t>
            </a:r>
          </a:p>
        </p:txBody>
      </p:sp>
    </p:spTree>
    <p:extLst>
      <p:ext uri="{BB962C8B-B14F-4D97-AF65-F5344CB8AC3E}">
        <p14:creationId xmlns:p14="http://schemas.microsoft.com/office/powerpoint/2010/main" val="47818440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CE6B1B-68FF-434E-98A0-D559CEBF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0F62D-48D9-4D31-9C34-F4C788D7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0A0D0-BD75-4ABC-BED8-5160878F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410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4AAE-B1B5-4C12-86DC-9D900C4B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C1073-195C-4B3A-9843-3DCE0FC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6CF22-93BC-4E7D-A1BC-240F9D0D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ROADSHOW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46E6C-F27A-40E4-B4D9-24F31BE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明天现场要讲清楚：Hive 的价值在 runtime + governance，而不是又一个 agent UI。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2D067-D27A-47BB-B34D-1C20DD16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286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19050">
            <a:solidFill>
              <a:srgbClr val="2E72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1A2F8-901F-4C83-8330-354E87F2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2B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72B8"/>
                </a:solidFill>
                <a:latin typeface="PingFang SC"/>
                <a:ea typeface="PingFang SC"/>
                <a:cs typeface="PingFang SC"/>
              </a:rPr>
              <a:t>建议演示顺序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7DD92-108E-4956-8852-824246A8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19400"/>
            <a:ext cx="3543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1. HR Agent 对话创建数字员工，展示 soul.md 与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6EC44-FACB-4763-8627-EB2D1FFE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3543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2. Web chat durable run：刷新页面不取消执行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2C6A8-976C-445B-85E1-AF0E374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3543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3. Memory Control Plane：动态记忆 + 敏感写入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6852B-5624-4D2E-B801-FC0221CB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62400"/>
            <a:ext cx="3543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4. Plan Mode / Workflow preview：高风险动作需要确认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44474-FA23-488B-A966-24D6E5BB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3543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6384E"/>
                </a:solidFill>
                <a:latin typeface="PingFang SC"/>
                <a:ea typeface="PingFang SC"/>
                <a:cs typeface="PingFang SC"/>
              </a:rPr>
              <a:t>5. Office / Feishu / MCP：生产工作入口而非玩具聊天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14851-2A9A-4735-9D21-CD7CB29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48958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E"/>
          </a:solidFill>
          <a:ln xmlns:a="http://schemas.openxmlformats.org/drawingml/2006/main" w="19050">
            <a:solidFill>
              <a:srgbClr val="0E7C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176E1-B415-4344-937D-CA3BFD93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E7C66"/>
                </a:solidFill>
                <a:latin typeface="PingFang SC"/>
                <a:ea typeface="PingFang SC"/>
                <a:cs typeface="PingFang SC"/>
              </a:rPr>
              <a:t>90 天技术路线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C60DC-998E-4F39-9FFF-93E0BD64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2B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E72B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42C7C-62E6-4206-A5A5-EB3E0CDB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Self-evolution benchmark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669C4-DEC8-439F-B778-EE13737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把 Hermes 体感优势转成可重复 eval 与 next-turn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77EFC-A4C4-4EF2-8FC1-283F0F1E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8A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88A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FB376-45B0-4C94-9840-C52A451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Workflow v1 hardening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AFD0C-D88A-4C03-9E57-81D1299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registered / ephemeral 统一，trigger/UI/ops 全链路收口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7F029-61DC-4E6D-A01A-E8D5D705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3E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E3E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A1D3F6-0EB8-40D6-9079-711E5AD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Deep Research unification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5444F-5373-4181-AACB-AB2279DD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909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旧 DR 执行链迁到 leaf preset + workflow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C5911-DBE2-4109-BCBE-9DECC25E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16FFA-9881-4B83-8E4D-A98BB2DD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29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Enterprise pilot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0C16D-2D84-4CED-868F-8DBCE072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481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C746F"/>
                </a:solidFill>
                <a:latin typeface="PingFang SC"/>
                <a:ea typeface="PingFang SC"/>
                <a:cs typeface="PingFang SC"/>
              </a:rPr>
              <a:t>RLS、审计、审批、预算、channel credentials 做试点验收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0B0E9-7C64-4D09-B242-291C16EA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9525">
            <a:solidFill>
              <a:srgbClr val="1720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14852-7A93-40B6-A437-EB21A578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70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F0E7"/>
                </a:solidFill>
                <a:latin typeface="PingFang SC"/>
                <a:ea typeface="PingFang SC"/>
                <a:cs typeface="PingFang SC"/>
              </a:rPr>
              <a:t>Ask: 技术合作 / 试点 / 融资支持，把 Hive 做成企业数字员工基础设施。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0BDEE-9CEF-4293-8E92-3EFAC233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D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49588-1EDF-41DE-AA17-9D0A50E3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Hive technical roadshow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96678-63B6-48AC-91C9-2AFEB02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865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6C746F"/>
                </a:solidFill>
                <a:latin typeface="Aptos Mono"/>
                <a:ea typeface="Aptos Mono"/>
                <a:cs typeface="Aptos Mono"/>
              </a:rPr>
              <a:t>source: synthesized from current repo + docs roadmap</a:t>
            </a:r>
          </a:p>
        </p:txBody>
      </p:sp>
    </p:spTree>
    <p:extLst>
      <p:ext uri="{BB962C8B-B14F-4D97-AF65-F5344CB8AC3E}">
        <p14:creationId xmlns:p14="http://schemas.microsoft.com/office/powerpoint/2010/main" val="500532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2026-06-05T15:25:18.9840000Z</dcterms:created>
  <dcterms:modified xsi:type="dcterms:W3CDTF">2026-06-05T15:25:18.9840000Z</dcterms:modified>
</coreProperties>
</file>